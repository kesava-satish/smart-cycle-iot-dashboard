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D156A7-21E2-4C30-B4DE-2993C50B5BE7}">
  <a:tblStyle styleId="{62D156A7-21E2-4C30-B4DE-2993C50B5B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08ed0398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08ed0398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508ed03980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08ed03980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08ed03980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508ed03980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08ed03980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508ed03980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08ed03980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08ed03980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508ed03980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08ed03980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08ed03980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508ed03980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08ed03980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08ed03980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508ed03980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08ed0398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08ed0398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508ed03980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08ed03980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08ed03980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508ed03980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showMasterSp="0">
  <p:cSld name="Title Slid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at Buffalo, The State University of New York logo"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02" y="6041329"/>
            <a:ext cx="4800595" cy="3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1" showMasterSp="0">
  <p:cSld name="Divider Slid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at Buffalo, The State University of New York logo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600" y="321146"/>
            <a:ext cx="4800600" cy="356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98566" y="1079500"/>
            <a:ext cx="7093434" cy="5778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66928" y="2185416"/>
            <a:ext cx="424891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>
            <p:ph idx="2" type="pic"/>
          </p:nvPr>
        </p:nvSpPr>
        <p:spPr>
          <a:xfrm>
            <a:off x="0" y="1066800"/>
            <a:ext cx="12192000" cy="57912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showMasterSp="0">
  <p:cSld name="Title Slid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1" i="0" sz="60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University at Buffalo, The State University of New York logo" id="32" name="Google Shape;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400" y="6041329"/>
            <a:ext cx="4800600" cy="3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 showMasterSp="0">
  <p:cSld name="Divider Slid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ctrTitle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1" i="0" sz="60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University at Buffalo, The State University of New York logo" id="36" name="Google Shape;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600" y="321249"/>
            <a:ext cx="4800600" cy="355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566928" y="2185416"/>
            <a:ext cx="695147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566928" y="1499616"/>
            <a:ext cx="695147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566928" y="2185416"/>
            <a:ext cx="695147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566928" y="2185416"/>
            <a:ext cx="4500372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2" type="body"/>
          </p:nvPr>
        </p:nvSpPr>
        <p:spPr>
          <a:xfrm>
            <a:off x="5410200" y="2185416"/>
            <a:ext cx="4498848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566928" y="2185416"/>
            <a:ext cx="513892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566928" y="2593340"/>
            <a:ext cx="5140515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3" type="body"/>
          </p:nvPr>
        </p:nvSpPr>
        <p:spPr>
          <a:xfrm>
            <a:off x="6172200" y="2185416"/>
            <a:ext cx="5138928" cy="394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1"/>
          <p:cNvSpPr txBox="1"/>
          <p:nvPr>
            <p:ph idx="4" type="body"/>
          </p:nvPr>
        </p:nvSpPr>
        <p:spPr>
          <a:xfrm>
            <a:off x="6172200" y="2590800"/>
            <a:ext cx="5138928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66928" y="2185416"/>
            <a:ext cx="424891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5114631" y="1066800"/>
            <a:ext cx="7077369" cy="293259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4"/>
          <p:cNvSpPr/>
          <p:nvPr>
            <p:ph idx="3" type="pic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4"/>
          <p:cNvSpPr/>
          <p:nvPr>
            <p:ph idx="4" type="pic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566928" y="2185416"/>
            <a:ext cx="4248912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/>
          <p:nvPr>
            <p:ph idx="2" type="chart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University at Buffalo, The State University of New York logo"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5600" y="321249"/>
            <a:ext cx="4800600" cy="35582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6938176" y="63197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PRESENTATION TITLE 2 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Sub-topic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ctrTitle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DIVIDER SLIDE TITLE 1</a:t>
            </a:r>
            <a:endParaRPr/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Sub-topic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ycling - Free sports icons" id="82" name="Google Shape;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033" y="1079500"/>
            <a:ext cx="5778500" cy="577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83" name="Google Shape;83;p18"/>
          <p:cNvSpPr txBox="1"/>
          <p:nvPr>
            <p:ph type="title"/>
          </p:nvPr>
        </p:nvSpPr>
        <p:spPr>
          <a:xfrm>
            <a:off x="566928" y="1499616"/>
            <a:ext cx="4248912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</p:txBody>
      </p:sp>
      <p:sp>
        <p:nvSpPr>
          <p:cNvPr id="84" name="Google Shape;84;p18"/>
          <p:cNvSpPr txBox="1"/>
          <p:nvPr/>
        </p:nvSpPr>
        <p:spPr>
          <a:xfrm>
            <a:off x="566927" y="2185416"/>
            <a:ext cx="5189105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do cyclists need this?</a:t>
            </a:r>
            <a:endParaRPr/>
          </a:p>
          <a:p>
            <a:pPr indent="-228600" lvl="1" marL="228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easy heart rate/speed monitoring for cyclists</a:t>
            </a:r>
            <a:endParaRPr/>
          </a:p>
          <a:p>
            <a:pPr indent="-228600" lvl="1" marL="228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signaling is unsafe</a:t>
            </a:r>
            <a:endParaRPr/>
          </a:p>
          <a:p>
            <a:pPr indent="-228600" lvl="1" marL="228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integrated GPS + health tracking at low cost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90" name="Google Shape;90;p19"/>
          <p:cNvSpPr txBox="1"/>
          <p:nvPr/>
        </p:nvSpPr>
        <p:spPr>
          <a:xfrm>
            <a:off x="1032825" y="2533875"/>
            <a:ext cx="78909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A </a:t>
            </a:r>
            <a:r>
              <a:rPr b="1" lang="en-US" sz="2400"/>
              <a:t>Smart Cycle Dashboard</a:t>
            </a:r>
            <a:r>
              <a:rPr lang="en-US" sz="2400"/>
              <a:t> with: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Heart Rate, Temperature Monitoring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Speed Tracking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Auto Left/Right Turn Indicators</a:t>
            </a:r>
            <a:endParaRPr sz="2400"/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Mobile App Integration for Live Data + History</a:t>
            </a:r>
            <a:br>
              <a:rPr lang="en-US" sz="2400"/>
            </a:b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/>
              <a:t>Schematic</a:t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11153" l="0" r="0" t="5145"/>
          <a:stretch/>
        </p:blipFill>
        <p:spPr>
          <a:xfrm>
            <a:off x="1402079" y="2373512"/>
            <a:ext cx="8453121" cy="4015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539378" y="1182891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 Components</a:t>
            </a:r>
            <a:endParaRPr/>
          </a:p>
        </p:txBody>
      </p:sp>
      <p:sp>
        <p:nvSpPr>
          <p:cNvPr id="103" name="Google Shape;103;p21"/>
          <p:cNvSpPr txBox="1"/>
          <p:nvPr/>
        </p:nvSpPr>
        <p:spPr>
          <a:xfrm>
            <a:off x="1459325" y="1966700"/>
            <a:ext cx="86757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ESP32</a:t>
            </a:r>
            <a:r>
              <a:rPr lang="en-US" sz="1600"/>
              <a:t> Microcontroller (Bluetooth Enabled)</a:t>
            </a:r>
            <a:br>
              <a:rPr lang="en-US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GY-521 (MPU6050)</a:t>
            </a:r>
            <a:r>
              <a:rPr lang="en-US" sz="1600"/>
              <a:t> Accelerometer + Gyroscope</a:t>
            </a:r>
            <a:br>
              <a:rPr lang="en-US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Pulse Sensor</a:t>
            </a:r>
            <a:r>
              <a:rPr lang="en-US" sz="1600"/>
              <a:t> for Heart Rate</a:t>
            </a:r>
            <a:br>
              <a:rPr lang="en-US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GPS Module</a:t>
            </a:r>
            <a:r>
              <a:rPr lang="en-US" sz="1600"/>
              <a:t> (NEO-6M)</a:t>
            </a:r>
            <a:br>
              <a:rPr lang="en-US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Temperature Sensor</a:t>
            </a:r>
            <a:r>
              <a:rPr lang="en-US" sz="1600"/>
              <a:t> (Dummy / DHT11)</a:t>
            </a:r>
            <a:br>
              <a:rPr lang="en-US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16x2 LCD Display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LEDs</a:t>
            </a:r>
            <a:r>
              <a:rPr lang="en-US" sz="1600"/>
              <a:t> for Indicators</a:t>
            </a:r>
            <a:br>
              <a:rPr lang="en-US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Battery</a:t>
            </a:r>
            <a:br>
              <a:rPr b="1" lang="en-US" sz="1600"/>
            </a:b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Bluetooth Communication to App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525600" y="1622400"/>
            <a:ext cx="8248800" cy="4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Connect to ESP32 over </a:t>
            </a:r>
            <a:r>
              <a:rPr b="1" lang="en-US" sz="1800"/>
              <a:t>Bluetooth</a:t>
            </a:r>
            <a:br>
              <a:rPr b="1" lang="en-US" sz="1800"/>
            </a:b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Display live:</a:t>
            </a:r>
            <a:br>
              <a:rPr lang="en-US" sz="1800"/>
            </a:b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Heart Rate ❤️</a:t>
            </a:r>
            <a:br>
              <a:rPr lang="en-US" sz="1800"/>
            </a:b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Speed 🚴</a:t>
            </a:r>
            <a:br>
              <a:rPr lang="en-US" sz="1800"/>
            </a:b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Temperature 🌡️</a:t>
            </a:r>
            <a:br>
              <a:rPr lang="en-US" sz="1800"/>
            </a:b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 sz="1800"/>
              <a:t>Tilt/Turn Direction ↔️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Show GPS Coordinates (Future update)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800"/>
              <a:t>Simple Button to Connect/Disconnect Bluetooth</a:t>
            </a:r>
            <a:endParaRPr sz="1800"/>
          </a:p>
        </p:txBody>
      </p:sp>
      <p:sp>
        <p:nvSpPr>
          <p:cNvPr id="110" name="Google Shape;110;p22"/>
          <p:cNvSpPr txBox="1"/>
          <p:nvPr>
            <p:ph type="title"/>
          </p:nvPr>
        </p:nvSpPr>
        <p:spPr>
          <a:xfrm>
            <a:off x="525603" y="1031391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566928" y="1499616"/>
            <a:ext cx="10515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/>
              <a:t>Schematic</a:t>
            </a:r>
            <a:endParaRPr/>
          </a:p>
        </p:txBody>
      </p:sp>
      <p:pic>
        <p:nvPicPr>
          <p:cNvPr id="116" name="Google Shape;116;p23"/>
          <p:cNvPicPr preferRelativeResize="0"/>
          <p:nvPr/>
        </p:nvPicPr>
        <p:blipFill rotWithShape="1">
          <a:blip r:embed="rId3">
            <a:alphaModFix/>
          </a:blip>
          <a:srcRect b="11149" l="0" r="0" t="5147"/>
          <a:stretch/>
        </p:blipFill>
        <p:spPr>
          <a:xfrm>
            <a:off x="1402079" y="2373512"/>
            <a:ext cx="8453119" cy="401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566928" y="1499616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</a:t>
            </a:r>
            <a:r>
              <a:rPr lang="en-US"/>
              <a:t>Architecture</a:t>
            </a:r>
            <a:r>
              <a:rPr lang="en-US"/>
              <a:t> </a:t>
            </a:r>
            <a:endParaRPr/>
          </a:p>
        </p:txBody>
      </p:sp>
      <p:sp>
        <p:nvSpPr>
          <p:cNvPr id="123" name="Google Shape;123;p24"/>
          <p:cNvSpPr txBox="1"/>
          <p:nvPr/>
        </p:nvSpPr>
        <p:spPr>
          <a:xfrm>
            <a:off x="883675" y="2175825"/>
            <a:ext cx="7268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Sensor Initialization and Data Reading</a:t>
            </a:r>
            <a:br>
              <a:rPr b="1" lang="en-US" sz="2000"/>
            </a:b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Processing for Speed and Tilt Detection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000"/>
            </a:b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LCD Display Output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000"/>
            </a:b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Bluetooth Transmission to Mobile App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Serial Monitor for Debugging</a:t>
            </a:r>
            <a:endParaRPr b="1" sz="2000"/>
          </a:p>
        </p:txBody>
      </p:sp>
      <p:cxnSp>
        <p:nvCxnSpPr>
          <p:cNvPr id="124" name="Google Shape;124;p24"/>
          <p:cNvCxnSpPr/>
          <p:nvPr/>
        </p:nvCxnSpPr>
        <p:spPr>
          <a:xfrm>
            <a:off x="4310350" y="2657825"/>
            <a:ext cx="13800" cy="79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4"/>
          <p:cNvCxnSpPr/>
          <p:nvPr/>
        </p:nvCxnSpPr>
        <p:spPr>
          <a:xfrm flipH="1">
            <a:off x="4310350" y="3883425"/>
            <a:ext cx="13800" cy="526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4"/>
          <p:cNvCxnSpPr/>
          <p:nvPr/>
        </p:nvCxnSpPr>
        <p:spPr>
          <a:xfrm flipH="1">
            <a:off x="4314250" y="4751000"/>
            <a:ext cx="6000" cy="49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4"/>
          <p:cNvCxnSpPr/>
          <p:nvPr/>
        </p:nvCxnSpPr>
        <p:spPr>
          <a:xfrm flipH="1">
            <a:off x="4304925" y="5659925"/>
            <a:ext cx="19200" cy="62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553153" y="990116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cost</a:t>
            </a:r>
            <a:endParaRPr/>
          </a:p>
        </p:txBody>
      </p:sp>
      <p:graphicFrame>
        <p:nvGraphicFramePr>
          <p:cNvPr id="134" name="Google Shape;134;p25"/>
          <p:cNvGraphicFramePr/>
          <p:nvPr/>
        </p:nvGraphicFramePr>
        <p:xfrm>
          <a:off x="217275" y="177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{62D156A7-21E2-4C30-B4DE-2993C50B5BE7}</a:tableStyleId>
              </a:tblPr>
              <a:tblGrid>
                <a:gridCol w="3283575"/>
                <a:gridCol w="1503450"/>
                <a:gridCol w="757750"/>
                <a:gridCol w="1431300"/>
                <a:gridCol w="4558525"/>
              </a:tblGrid>
              <a:tr h="54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Component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Unit Price (USD)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Quantity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 Cost (USD)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Notes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4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ESP32 Development Board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microcontroller that drives the entire system.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Pulse Sensor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 heart rate monitoring.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MPU6050 (Accelerometer/Gyro)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 speed calculation and tilt detection.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Bluetooth Module (ESP32)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Integrated (ESP32)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Bluetooth </a:t>
                      </a:r>
                      <a:r>
                        <a:rPr lang="en-US"/>
                        <a:t>capability is</a:t>
                      </a:r>
                      <a:r>
                        <a:rPr lang="en-US"/>
                        <a:t> included with ESP32.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Temperature Sensor (DHT22)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 temperature sensing.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16x2 LCD Display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 displaying data.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Power Supply (Battery)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Rechargeable battery for mobile use.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Cables and Connectors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Basic wires/connectors for setup.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Miscellaneous (Enclosure, Mounts, etc.)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Miscellaneous cost for housing and mounting components.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566928" y="1499616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Strategy</a:t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867575" y="2437500"/>
            <a:ext cx="8744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Stage 1:</a:t>
            </a:r>
            <a:r>
              <a:rPr lang="en-US" sz="2000"/>
              <a:t> Simulate random dummy values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Stage 2:</a:t>
            </a:r>
            <a:r>
              <a:rPr lang="en-US" sz="2000"/>
              <a:t> Hardware-Sensor Integration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Stage 3:</a:t>
            </a:r>
            <a:r>
              <a:rPr lang="en-US" sz="2000"/>
              <a:t> Bluetooth App Testing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Stage 4:</a:t>
            </a:r>
            <a:r>
              <a:rPr lang="en-US" sz="2000"/>
              <a:t> Real-world cycle mounting and road testing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566928" y="1499616"/>
            <a:ext cx="10515600" cy="591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Improvements</a:t>
            </a:r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963950" y="2437475"/>
            <a:ext cx="7904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Live GPS tracking and route recording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SOS system on crash detection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Solar charging integration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App Notifications for Speed Limits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Community Challenges inside the App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2233224" y="1886700"/>
            <a:ext cx="6938400" cy="3084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Thank you!</a:t>
            </a:r>
            <a:endParaRPr sz="7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200"/>
            </a:br>
            <a:r>
              <a:rPr lang="en-US" sz="7200"/>
              <a:t>Any </a:t>
            </a:r>
            <a:r>
              <a:rPr lang="en-US" sz="7200"/>
              <a:t>questions</a:t>
            </a:r>
            <a:r>
              <a:rPr lang="en-US" sz="7200"/>
              <a:t>?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